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Commodity Classification System</a:t>
            </a:r>
          </a:p>
          <a:p>
            <a:r>
              <a:t>for Rwanda's e-Procurement Platform (UMUCYO)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Proposal Summary</a:t>
            </a:r>
          </a:p>
          <a:p>
            <a:r>
              <a:t>Prepared by: Grad Tech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AI-powered commodity classification for UMUCYO</a:t>
            </a:r>
          </a:p>
          <a:p>
            <a:pPr>
              <a:defRPr sz="1400"/>
            </a:pPr>
            <a:r>
              <a:t>Uses NLP &amp; ML for automated attribute extraction</a:t>
            </a:r>
          </a:p>
          <a:p>
            <a:pPr>
              <a:defRPr sz="1400"/>
            </a:pPr>
            <a:r>
              <a:t>Improves accuracy, consistency, and searchability</a:t>
            </a:r>
          </a:p>
          <a:p>
            <a:pPr>
              <a:defRPr sz="1400"/>
            </a:pPr>
            <a:r>
              <a:t>Supports English &amp; French for inclusivity</a:t>
            </a:r>
          </a:p>
          <a:p>
            <a:pPr>
              <a:defRPr sz="1400"/>
            </a:pPr>
            <a:r>
              <a:t>Enhances transparency and efficiency in procurement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Inconsistent and unstructured procurement data</a:t>
            </a:r>
          </a:p>
          <a:p>
            <a:pPr>
              <a:defRPr sz="1400"/>
            </a:pPr>
            <a:r>
              <a:t>Limited granularity in UNSPSC codes</a:t>
            </a:r>
          </a:p>
          <a:p>
            <a:pPr>
              <a:defRPr sz="1400"/>
            </a:pPr>
            <a:r>
              <a:t>Ineffective search and retrieval</a:t>
            </a:r>
          </a:p>
          <a:p>
            <a:pPr>
              <a:defRPr sz="1400"/>
            </a:pPr>
            <a:r>
              <a:t>Lack of structured data for analytics</a:t>
            </a:r>
          </a:p>
          <a:p>
            <a:pPr>
              <a:defRPr sz="1400"/>
            </a:pPr>
            <a:r>
              <a:t>Heavy reliance on manual validation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AI-driven classification with NLP &amp; ML</a:t>
            </a:r>
          </a:p>
          <a:p>
            <a:pPr>
              <a:defRPr sz="1400"/>
            </a:pPr>
            <a:r>
              <a:t>Attribute-Value Pair (AVP) taxonomy</a:t>
            </a:r>
          </a:p>
          <a:p>
            <a:pPr>
              <a:defRPr sz="1400"/>
            </a:pPr>
            <a:r>
              <a:t>Automated + human-in-the-loop validation</a:t>
            </a:r>
          </a:p>
          <a:p>
            <a:pPr>
              <a:defRPr sz="1400"/>
            </a:pPr>
            <a:r>
              <a:t>Bulk upload &amp; classification interface</a:t>
            </a:r>
          </a:p>
          <a:p>
            <a:pPr>
              <a:defRPr sz="1400"/>
            </a:pPr>
            <a:r>
              <a:t>Elasticsearch-powered search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Enhance accuracy of commodity classification</a:t>
            </a:r>
          </a:p>
          <a:p>
            <a:pPr>
              <a:defRPr sz="1400"/>
            </a:pPr>
            <a:r>
              <a:t>Automate extraction of technical attributes</a:t>
            </a:r>
          </a:p>
          <a:p>
            <a:pPr>
              <a:defRPr sz="1400"/>
            </a:pPr>
            <a:r>
              <a:t>Enable multilingual support</a:t>
            </a:r>
          </a:p>
          <a:p>
            <a:pPr>
              <a:defRPr sz="1400"/>
            </a:pPr>
            <a:r>
              <a:t>Support spend analysis &amp; vendor benchmarking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Historical data collection &amp; cleaning</a:t>
            </a:r>
          </a:p>
          <a:p>
            <a:pPr>
              <a:defRPr sz="1400"/>
            </a:pPr>
            <a:r>
              <a:t>UNSPSC augmentation</a:t>
            </a:r>
          </a:p>
          <a:p>
            <a:pPr>
              <a:defRPr sz="1400"/>
            </a:pPr>
            <a:r>
              <a:t>AVP taxonomy manager</a:t>
            </a:r>
          </a:p>
          <a:p>
            <a:pPr>
              <a:defRPr sz="1400"/>
            </a:pPr>
            <a:r>
              <a:t>Transformer-based NLP model</a:t>
            </a:r>
          </a:p>
          <a:p>
            <a:pPr>
              <a:defRPr sz="1400"/>
            </a:pPr>
            <a:r>
              <a:t>Elasticsearch implementation</a:t>
            </a:r>
          </a:p>
          <a:p>
            <a:pPr>
              <a:defRPr sz="1400"/>
            </a:pPr>
            <a:r>
              <a:t>Bulk upload functionality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Phase 1: Requirements &amp; System Design</a:t>
            </a:r>
          </a:p>
          <a:p>
            <a:pPr>
              <a:defRPr sz="1400"/>
            </a:pPr>
            <a:r>
              <a:t>Phase 2: AI Model Development &amp; Training</a:t>
            </a:r>
          </a:p>
          <a:p>
            <a:pPr>
              <a:defRPr sz="1400"/>
            </a:pPr>
            <a:r>
              <a:t>Phase 3: System Integration &amp; UI Build</a:t>
            </a:r>
          </a:p>
          <a:p>
            <a:pPr>
              <a:defRPr sz="1400"/>
            </a:pPr>
            <a:r>
              <a:t>Phase 4: Deployment, Testing &amp;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NLP for text parsing</a:t>
            </a:r>
          </a:p>
          <a:p>
            <a:pPr>
              <a:defRPr sz="1400"/>
            </a:pPr>
            <a:r>
              <a:t>Transformer-based attribute extraction</a:t>
            </a:r>
          </a:p>
          <a:p>
            <a:pPr>
              <a:defRPr sz="1400"/>
            </a:pPr>
            <a:r>
              <a:t>Classification accuracy targets</a:t>
            </a:r>
          </a:p>
          <a:p>
            <a:pPr>
              <a:defRPr sz="1400"/>
            </a:pPr>
            <a:r>
              <a:t>Human-in-the-loop feedback</a:t>
            </a:r>
          </a:p>
          <a:p>
            <a:pPr>
              <a:defRPr sz="1400"/>
            </a:pPr>
            <a:r>
              <a:t>Multilingual (EN/FR, future Kinyarwanda)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Functional: Classification, AVP generation, bulk upload</a:t>
            </a:r>
          </a:p>
          <a:p>
            <a:pPr>
              <a:defRPr sz="1400"/>
            </a:pPr>
            <a:r>
              <a:t>Non-Functional: Scalability, high availability, multilingual</a:t>
            </a:r>
          </a:p>
          <a:p>
            <a:pPr>
              <a:defRPr sz="1400"/>
            </a:pPr>
            <a:r>
              <a:t>Data privacy &amp; access control</a:t>
            </a:r>
          </a:p>
          <a:p>
            <a:pPr>
              <a:defRPr sz="1400"/>
            </a:pPr>
            <a:r>
              <a:t>Performance &amp; responsiveness targets</a:t>
            </a:r>
          </a:p>
          <a:p>
            <a:pPr>
              <a:defRPr sz="1400"/>
            </a:pPr>
            <a:r>
              <a:t>Compliance with OCDS &amp; UNSPSC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Summary (Rwf)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AI Model Development: 23,728,814</a:t>
            </a:r>
          </a:p>
          <a:p>
            <a:pPr>
              <a:defRPr sz="1400"/>
            </a:pPr>
            <a:r>
              <a:t>Web Interface Build: 18,644,068</a:t>
            </a:r>
          </a:p>
          <a:p>
            <a:pPr>
              <a:defRPr sz="1400"/>
            </a:pPr>
            <a:r>
              <a:t>Integration &amp; Testing: 16,949,153</a:t>
            </a:r>
          </a:p>
          <a:p>
            <a:pPr>
              <a:defRPr sz="1400"/>
            </a:pPr>
            <a:r>
              <a:t>Training Materials: 10,169,492</a:t>
            </a:r>
          </a:p>
          <a:p>
            <a:pPr>
              <a:defRPr sz="1400"/>
            </a:pPr>
            <a:r>
              <a:t>Maintenance (6 months): 12,711,864</a:t>
            </a:r>
          </a:p>
          <a:p>
            <a:pPr>
              <a:defRPr sz="1400"/>
            </a:pPr>
            <a:r>
              <a:t>Total (incl. VAT): 130,000,000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